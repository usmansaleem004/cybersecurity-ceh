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24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COMPUTER NETWORKS  |  ROUTING PROTOCOLS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IGRP &amp; EIGRP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F0F8"/>
                </a:solidFill>
              </a:rPr>
              <a:t>Interior Gateway Routing Protocol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F0F8"/>
                </a:solidFill>
              </a:rPr>
              <a:t>&amp; Enhanced Interior Gateway Routing Protocol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3310128"/>
            <a:ext cx="34747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493008"/>
            <a:ext cx="1417320" cy="274320"/>
          </a:xfrm>
          <a:prstGeom prst="rect">
            <a:avLst/>
          </a:prstGeom>
          <a:solidFill>
            <a:srgbClr val="0077B6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50215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CISCO PROTOCOLS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965960" y="3493008"/>
            <a:ext cx="1417320" cy="274320"/>
          </a:xfrm>
          <a:prstGeom prst="rect">
            <a:avLst/>
          </a:prstGeom>
          <a:solidFill>
            <a:srgbClr val="0077B6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350215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DISTANCE VECTOR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11880" y="350215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4320" y="48737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887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103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SECTION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IGRP?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960120"/>
          </a:xfrm>
          <a:prstGeom prst="rect">
            <a:avLst/>
          </a:prstGeom>
          <a:solidFill>
            <a:srgbClr val="112244"/>
          </a:solidFill>
          <a:ln w="19050">
            <a:solidFill>
              <a:srgbClr val="00B4D8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IGRP = Interior Gateway Routing Protocol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Made by Cisco in 1985. It is used to share routing information between routers inside one network (called Autonomous System). It replaced the older RIP protocol.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2697480" cy="1188720"/>
          </a:xfrm>
          <a:prstGeom prst="rect">
            <a:avLst/>
          </a:prstGeom>
          <a:solidFill>
            <a:srgbClr val="112244"/>
          </a:solidFill>
          <a:ln w="19050">
            <a:solidFill>
              <a:srgbClr val="00B4D8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59152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871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Made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Cisco (1985)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18688" y="2359152"/>
            <a:ext cx="2697480" cy="1188720"/>
          </a:xfrm>
          <a:prstGeom prst="rect">
            <a:avLst/>
          </a:prstGeom>
          <a:solidFill>
            <a:srgbClr val="112244"/>
          </a:solidFill>
          <a:ln w="19050">
            <a:solidFill>
              <a:srgbClr val="06D6A0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2359152"/>
            <a:ext cx="26974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24871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Type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18688" y="27889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Distance Vector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71616" y="2359152"/>
            <a:ext cx="2697480" cy="1188720"/>
          </a:xfrm>
          <a:prstGeom prst="rect">
            <a:avLst/>
          </a:prstGeom>
          <a:solidFill>
            <a:srgbClr val="112244"/>
          </a:solidFill>
          <a:ln w="19050">
            <a:solidFill>
              <a:srgbClr val="FFB703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2359152"/>
            <a:ext cx="269748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24871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</a:rPr>
              <a:t>Algorithm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71616" y="27889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Bellman-Ford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8412480" cy="749808"/>
          </a:xfrm>
          <a:prstGeom prst="rect">
            <a:avLst/>
          </a:prstGeom>
          <a:solidFill>
            <a:srgbClr val="0D22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67328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</a:rPr>
              <a:t>Easy to Remember:  IGRP is like a smart GPS for routers — it finds the BEST path using speed (bandwidth), distance (delay), traffic (load), and road quality (reliability).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IGRP Key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</a:rPr>
              <a:t>Section 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4114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85800"/>
            <a:ext cx="64008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77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Composite Metric (5 values)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10642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Uses Bandwidth + Delay + Load + Reliability + MTU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Not just hop count like RIP — much smarter!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685800"/>
            <a:ext cx="4114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685800"/>
            <a:ext cx="64008" cy="132588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777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Classful Protocol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10642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Works with fixed subnet sizes only.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Does NOT support VLSM (Variable Length Subnets).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4114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21408"/>
            <a:ext cx="64008" cy="1325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12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Max Hops = 255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4203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Default is 100 hops. Maximum allowed is 255.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RIP only allows 15 hops — IGRP handles bigger networks.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121408"/>
            <a:ext cx="4114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703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121408"/>
            <a:ext cx="64008" cy="1325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212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Update Every 90 Seconds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54203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Sends full routing table to neighbors every 90 sec.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Hold-down timer = 280 sec to prevent loops.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57016"/>
            <a:ext cx="4114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DE5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57016"/>
            <a:ext cx="64008" cy="1325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484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Unequal-Cost Load Balancing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Can split traffic on paths with DIFFERENT metrics.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Unique to IGRP — most protocols don't do this.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557016"/>
            <a:ext cx="4114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72585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557016"/>
            <a:ext cx="64008" cy="132588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484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Cisco Proprietary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97764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ONLY works on Cisco routers.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</a:rPr>
              <a:t>Cannot be used with other brands (Juniper, HP etc).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887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103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</a:rPr>
              <a:t>SECTION 02b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System (AS)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solidFill>
            <a:srgbClr val="112244"/>
          </a:solidFill>
          <a:ln w="19050">
            <a:solidFill>
              <a:srgbClr val="06D6A0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</a:rPr>
              <a:t>An Autonomous System is a group of routers that are managed by ONE organization and share the SAME routing protocol. Think of it as one company's private network.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114800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2402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AS Number Range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5328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1 – 65535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148840"/>
            <a:ext cx="4114800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22402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Same AS Required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25328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All routers must have the same AS number to exchange routes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4114800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6118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</a:rPr>
              <a:t>Single Management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9044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One organization controls all routers in the 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520440"/>
            <a:ext cx="4114800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9B5DE5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36118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DE5"/>
                </a:solidFill>
              </a:rPr>
              <a:t>Update Timer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39044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Routing table sent to neighbors every 90 seconds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IGRP Was Replaced — Its Weaknesses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</a:rPr>
              <a:t>Section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85800"/>
            <a:ext cx="64008" cy="74980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41248"/>
            <a:ext cx="411480" cy="411480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41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758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2"/>
                </a:solidFill>
              </a:rPr>
              <a:t>No VLSM / CIDR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033272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Classful only — can't use subnets of different sizes. Modern networks NEED this.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53619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536192"/>
            <a:ext cx="64008" cy="74980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691640"/>
            <a:ext cx="411480" cy="411480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1609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2"/>
                </a:solidFill>
              </a:rPr>
              <a:t>Slow Convergence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1883664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Takes minutes to update after a link fails. Network stays broken during this time.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38658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86584"/>
            <a:ext cx="64008" cy="74980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542032"/>
            <a:ext cx="411480" cy="411480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2459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2"/>
                </a:solidFill>
              </a:rPr>
              <a:t>No IPv6 Support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734056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Never updated for IPv6. Dead end for modern networking.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236976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236976"/>
            <a:ext cx="64008" cy="74980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392424"/>
            <a:ext cx="411480" cy="411480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392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310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2"/>
                </a:solidFill>
              </a:rPr>
              <a:t>Cisco Proprietary Only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58444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Can't work with non-Cisco routers. Bad for multi-vendor networks.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08736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087368"/>
            <a:ext cx="64008" cy="74980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242816"/>
            <a:ext cx="411480" cy="411480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242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" y="4160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2"/>
                </a:solidFill>
              </a:rPr>
              <a:t>Periodic Updates Waste Bandwidth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4434840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Sends full table every 90 sec even when nothing changed.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887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103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SECTION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EIGRP?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914400"/>
          </a:xfrm>
          <a:prstGeom prst="rect">
            <a:avLst/>
          </a:prstGeom>
          <a:solidFill>
            <a:srgbClr val="112244"/>
          </a:solidFill>
          <a:ln w="19050">
            <a:solidFill>
              <a:srgbClr val="06D6A0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</a:rPr>
              <a:t>EIGRP = Enhanced Interior Gateway Routing Protocol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</a:rPr>
              <a:t>Made by Cisco in 1992. It is the UPGRADED version of IGRP. It is called a 'Hybrid' protocol because it works like Distance Vector but also uses some Link State features. Became open standard in 2013 (RFC 7868).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2788920" cy="128016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04288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231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Year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71576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1992 (Cisco)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Open: 2013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2304288"/>
            <a:ext cx="2788920" cy="1280160"/>
          </a:xfrm>
          <a:prstGeom prst="rect">
            <a:avLst/>
          </a:prstGeom>
          <a:solidFill>
            <a:srgbClr val="112244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2304288"/>
            <a:ext cx="278892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4231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Type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82112" y="271576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Protocol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(DV + Link State)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2304288"/>
            <a:ext cx="2788920" cy="1280160"/>
          </a:xfrm>
          <a:prstGeom prst="rect">
            <a:avLst/>
          </a:prstGeom>
          <a:solidFill>
            <a:srgbClr val="112244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2304288"/>
            <a:ext cx="278892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24231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</a:rPr>
              <a:t>Algorithm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9904" y="271576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(Diffusing Update)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21608"/>
            <a:ext cx="2788920" cy="1280160"/>
          </a:xfrm>
          <a:prstGeom prst="rect">
            <a:avLst/>
          </a:prstGeom>
          <a:solidFill>
            <a:srgbClr val="112244"/>
          </a:solidFill>
          <a:ln w="12700">
            <a:solidFill>
              <a:srgbClr val="9B5DE5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21608"/>
            <a:ext cx="2788920" cy="54864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4048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</a:rPr>
              <a:t>IP Protocol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13308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Number 88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(Not TCP/UDP)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82112" y="3721608"/>
            <a:ext cx="2788920" cy="1280160"/>
          </a:xfrm>
          <a:prstGeom prst="rect">
            <a:avLst/>
          </a:prstGeom>
          <a:solidFill>
            <a:srgbClr val="112244"/>
          </a:solidFill>
          <a:ln w="12700">
            <a:solidFill>
              <a:srgbClr val="F72585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3721608"/>
            <a:ext cx="2788920" cy="54864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384048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2585"/>
                </a:solidFill>
              </a:rPr>
              <a:t>Multicast 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82112" y="413308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224.0.0.10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(Used for updates)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9904" y="3721608"/>
            <a:ext cx="2788920" cy="1280160"/>
          </a:xfrm>
          <a:prstGeom prst="rect">
            <a:avLst/>
          </a:prstGeom>
          <a:solidFill>
            <a:srgbClr val="112244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3721608"/>
            <a:ext cx="278892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384048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B6"/>
                </a:solidFill>
              </a:rPr>
              <a:t>Transport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89904" y="413308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RTP – Reliable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Transport Protocol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EIGRP Technical Details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</a:rPr>
              <a:t>Section 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148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04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RTP — Reliable Transport Protocol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EIGRP uses its OWN transport — NOT TCP or UDP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184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RTP makes sure packets are delivered reliably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It also supports multicast AND unicast sending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658368"/>
            <a:ext cx="41148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658368"/>
            <a:ext cx="411480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704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Multicast Address: 224.0.0.10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1338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EIGRP sends updates to address 224.0.0.10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6184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Only EIGRP routers listen to this address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Saves bandwidth — not sent to all devices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07208"/>
            <a:ext cx="41148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703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07208"/>
            <a:ext cx="4114800" cy="3657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52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IP Protocol Number 88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2826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EIGRP uses IP protocol 88 (not TCP=6 or UDP=17)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7673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This is how IP knows to pass packet to EIGRP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251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Similar to OSPF which uses protocol 89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807208"/>
            <a:ext cx="41148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DE5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807208"/>
            <a:ext cx="4114800" cy="365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852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Unequal-Cost Load Balancing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2826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DE5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Can share traffic across paths with DIFFERENT metrics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7673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DE5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Use 'variance' command to set how unequal they can be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251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DE5"/>
                </a:solidFill>
              </a:rPr>
              <a:t>•  </a:t>
            </a:r>
            <a:r>
              <a:rPr lang="en-US" sz="1000" dirty="0">
                <a:solidFill>
                  <a:srgbClr val="334455"/>
                </a:solidFill>
              </a:rPr>
              <a:t>IGRP also had this, EIGRP keeps and improves 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887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103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</a:rPr>
              <a:t>SECTION 05b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EIGRP Maintains 3 Tables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Every EIGRP router keeps 3 separate tables in its memory. You must know these for exam!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874520"/>
            <a:ext cx="2834640" cy="2971800"/>
          </a:xfrm>
          <a:prstGeom prst="rect">
            <a:avLst/>
          </a:prstGeom>
          <a:solidFill>
            <a:srgbClr val="112244"/>
          </a:solidFill>
          <a:ln w="19050">
            <a:solidFill>
              <a:srgbClr val="00B4D8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874520"/>
            <a:ext cx="28346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9019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 Neighbor Table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Answers: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63347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WHO is connected to me?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30358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Stores: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324612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IP of neighbor, interface, hold timer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6484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Updated: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385876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Updated by HELLO packets every 5 sec (LAN) / 60 sec (WAN)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42611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Tip: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447141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If Hello stops → neighbor removed → routes deleted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54680" y="1874520"/>
            <a:ext cx="2834640" cy="2971800"/>
          </a:xfrm>
          <a:prstGeom prst="rect">
            <a:avLst/>
          </a:prstGeom>
          <a:solidFill>
            <a:srgbClr val="112244"/>
          </a:solidFill>
          <a:ln w="19050">
            <a:solidFill>
              <a:srgbClr val="FFB703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1874520"/>
            <a:ext cx="2834640" cy="47548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19019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2. Topology Table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2423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703"/>
                </a:solidFill>
              </a:rPr>
              <a:t>Answers: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46120" y="263347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ALL routes I know about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46120" y="30358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703"/>
                </a:solidFill>
              </a:rPr>
              <a:t>Stores: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46120" y="324612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Successor route + Feasible Successor (backup route)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46120" y="36484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703"/>
                </a:solidFill>
              </a:rPr>
              <a:t>Updated: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46120" y="385876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Updated by UPDATE packets from neighbors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46120" y="42611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703"/>
                </a:solidFill>
              </a:rPr>
              <a:t>Tip: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46120" y="447141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Contains EVERY possible path, not just the best one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1874520"/>
            <a:ext cx="2834640" cy="2971800"/>
          </a:xfrm>
          <a:prstGeom prst="rect">
            <a:avLst/>
          </a:prstGeom>
          <a:solidFill>
            <a:srgbClr val="112244"/>
          </a:solidFill>
          <a:ln w="19050">
            <a:solidFill>
              <a:srgbClr val="06D6A0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1874520"/>
            <a:ext cx="283464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19019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3. Routing Table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2423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D6A0"/>
                </a:solidFill>
              </a:rPr>
              <a:t>Answers: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72200" y="263347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BEST routes for forwarding packets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72200" y="30358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D6A0"/>
                </a:solidFill>
              </a:rPr>
              <a:t>Stores: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72200" y="324612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Only the Successor (best) routes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72200" y="36484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D6A0"/>
                </a:solidFill>
              </a:rPr>
              <a:t>Updated: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72200" y="385876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DUAL picks best from Topology Table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72200" y="42611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D6A0"/>
                </a:solidFill>
              </a:rPr>
              <a:t>Tip: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72200" y="447141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F0F8"/>
                </a:solidFill>
              </a:rPr>
              <a:t>This is what the router actually USES to forward traffic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DUAL Algorithm — How EIGRP Finds Best Path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</a:rPr>
              <a:t>Section 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8595360" cy="59436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040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</a:rPr>
              <a:t>DUAL = Diffusing Update Algorithm. It is the brain of EIGRP. It picks the BEST (Successor) route and keeps a BACKUP (Feasible Successor) route ready. If primary fails, backup is used INSTANTLY — no waiting!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66160" y="1417320"/>
            <a:ext cx="1920240" cy="685800"/>
          </a:xfrm>
          <a:prstGeom prst="rect">
            <a:avLst/>
          </a:prstGeom>
          <a:solidFill>
            <a:srgbClr val="0077B6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MY ROUTER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3931920"/>
            <a:ext cx="1920240" cy="594360"/>
          </a:xfrm>
          <a:prstGeom prst="rect">
            <a:avLst/>
          </a:prstGeom>
          <a:solidFill>
            <a:srgbClr val="223311"/>
          </a:solidFill>
          <a:ln w="25400">
            <a:solidFill>
              <a:srgbClr val="06D6A0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39319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DESTINATION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286000" cy="1097280"/>
          </a:xfrm>
          <a:prstGeom prst="rect">
            <a:avLst/>
          </a:prstGeom>
          <a:solidFill>
            <a:srgbClr val="062510"/>
          </a:solidFill>
          <a:ln w="25400">
            <a:solidFill>
              <a:srgbClr val="06D6A0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PATH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Successor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Metric: 1000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BEST ROUTE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(Used for forwarding)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2423160"/>
            <a:ext cx="2286000" cy="1097280"/>
          </a:xfrm>
          <a:prstGeom prst="rect">
            <a:avLst/>
          </a:prstGeom>
          <a:solidFill>
            <a:srgbClr val="1A1020"/>
          </a:solidFill>
          <a:ln w="25400">
            <a:solidFill>
              <a:srgbClr val="FFB703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</a:rPr>
              <a:t>PATH 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</a:rPr>
              <a:t>Feasible Successor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9077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Metric: 1500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BACKUP ROUTE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(Ready if A fails)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1874520"/>
            <a:ext cx="173736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1874520"/>
            <a:ext cx="36576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1874520"/>
            <a:ext cx="1737360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87184" y="1874520"/>
            <a:ext cx="36576" cy="594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1056" y="3520440"/>
            <a:ext cx="36576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91056" y="3995928"/>
            <a:ext cx="201168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4928" y="3520440"/>
            <a:ext cx="36576" cy="47548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9824" y="3995928"/>
            <a:ext cx="2011680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1600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D6A0"/>
                </a:solidFill>
              </a:rPr>
              <a:t>Uses PATH A normally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69280" y="1600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703"/>
                </a:solidFill>
              </a:rPr>
              <a:t>Switches to B if A fails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IGRP vs EIGRP — Quick Comparison Table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</a:rPr>
              <a:t>Section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80360" y="594360"/>
            <a:ext cx="269748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61264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IGRP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594360"/>
            <a:ext cx="320040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6126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EIGRP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024128"/>
            <a:ext cx="2560320" cy="365760"/>
          </a:xfrm>
          <a:prstGeom prst="rect">
            <a:avLst/>
          </a:prstGeom>
          <a:solidFill>
            <a:srgbClr val="E2EEF8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024128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02412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078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Year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0" y="1078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</a:rPr>
              <a:t>1985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15000" y="10789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B6"/>
                </a:solidFill>
              </a:rPr>
              <a:t>1992 (Open: 2013)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399032"/>
            <a:ext cx="2560320" cy="365760"/>
          </a:xfrm>
          <a:prstGeom prst="rect">
            <a:avLst/>
          </a:prstGeom>
          <a:solidFill>
            <a:srgbClr val="E2EEF8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1399032"/>
            <a:ext cx="2697480" cy="365760"/>
          </a:xfrm>
          <a:prstGeom prst="rect">
            <a:avLst/>
          </a:prstGeom>
          <a:solidFill>
            <a:srgbClr val="EFF6FB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1399032"/>
            <a:ext cx="3200400" cy="365760"/>
          </a:xfrm>
          <a:prstGeom prst="rect">
            <a:avLst/>
          </a:prstGeom>
          <a:solidFill>
            <a:srgbClr val="EFF6FB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453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Type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14538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</a:rPr>
              <a:t>Distance Vector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15000" y="1453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B6"/>
                </a:solidFill>
              </a:rPr>
              <a:t>Hybrid (DV + Link State)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1773936"/>
            <a:ext cx="2560320" cy="365760"/>
          </a:xfrm>
          <a:prstGeom prst="rect">
            <a:avLst/>
          </a:prstGeom>
          <a:solidFill>
            <a:srgbClr val="E2EEF8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0360" y="1773936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1773936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Algorithm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26080" y="18288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</a:rPr>
              <a:t>Bellman-Ford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15000" y="18288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B6"/>
                </a:solidFill>
              </a:rPr>
              <a:t>DUAL Algorithm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148840"/>
            <a:ext cx="2560320" cy="365760"/>
          </a:xfrm>
          <a:prstGeom prst="rect">
            <a:avLst/>
          </a:prstGeom>
          <a:solidFill>
            <a:srgbClr val="E2EEF8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80360" y="2148840"/>
            <a:ext cx="2697480" cy="365760"/>
          </a:xfrm>
          <a:prstGeom prst="rect">
            <a:avLst/>
          </a:prstGeom>
          <a:solidFill>
            <a:srgbClr val="EFF6FB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2148840"/>
            <a:ext cx="3200400" cy="365760"/>
          </a:xfrm>
          <a:prstGeom prst="rect">
            <a:avLst/>
          </a:prstGeom>
          <a:solidFill>
            <a:srgbClr val="EFF6FB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203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Subnet Support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926080" y="22037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</a:rPr>
              <a:t>Classful only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15000" y="22037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B6"/>
                </a:solidFill>
              </a:rPr>
              <a:t>Classless (VLSM ok)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2523744"/>
            <a:ext cx="2560320" cy="365760"/>
          </a:xfrm>
          <a:prstGeom prst="rect">
            <a:avLst/>
          </a:prstGeom>
          <a:solidFill>
            <a:srgbClr val="E2EEF8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2523744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2523744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578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Convergence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926080" y="2578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</a:rPr>
              <a:t>Slow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15000" y="25786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B6"/>
                </a:solidFill>
              </a:rPr>
              <a:t>Very Fast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2898648"/>
            <a:ext cx="2560320" cy="365760"/>
          </a:xfrm>
          <a:prstGeom prst="rect">
            <a:avLst/>
          </a:prstGeom>
          <a:solidFill>
            <a:srgbClr val="E2EEF8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2898648"/>
            <a:ext cx="2697480" cy="365760"/>
          </a:xfrm>
          <a:prstGeom prst="rect">
            <a:avLst/>
          </a:prstGeom>
          <a:solidFill>
            <a:srgbClr val="EFF6FB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2898648"/>
            <a:ext cx="3200400" cy="365760"/>
          </a:xfrm>
          <a:prstGeom prst="rect">
            <a:avLst/>
          </a:prstGeom>
          <a:solidFill>
            <a:srgbClr val="EFF6FB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953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Max Hops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926080" y="2953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</a:rPr>
              <a:t>255 (default 100)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15000" y="2953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B6"/>
                </a:solidFill>
              </a:rPr>
              <a:t>224 (default 100)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3273552"/>
            <a:ext cx="2560320" cy="365760"/>
          </a:xfrm>
          <a:prstGeom prst="rect">
            <a:avLst/>
          </a:prstGeom>
          <a:solidFill>
            <a:srgbClr val="E2EEF8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80360" y="3273552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0" y="3273552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328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Updates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926080" y="3328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</a:rPr>
              <a:t>Every 90 sec (full table)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715000" y="3328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B6"/>
                </a:solidFill>
              </a:rPr>
              <a:t>Only when change happens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3648456"/>
            <a:ext cx="2560320" cy="365760"/>
          </a:xfrm>
          <a:prstGeom prst="rect">
            <a:avLst/>
          </a:prstGeom>
          <a:solidFill>
            <a:srgbClr val="E2EEF8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80360" y="3648456"/>
            <a:ext cx="2697480" cy="365760"/>
          </a:xfrm>
          <a:prstGeom prst="rect">
            <a:avLst/>
          </a:prstGeom>
          <a:solidFill>
            <a:srgbClr val="EFF6FB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69280" y="3648456"/>
            <a:ext cx="3200400" cy="365760"/>
          </a:xfrm>
          <a:prstGeom prst="rect">
            <a:avLst/>
          </a:prstGeom>
          <a:solidFill>
            <a:srgbClr val="EFF6FB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Load Balancing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926080" y="3703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</a:rPr>
              <a:t>Unequal-cost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715000" y="3703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B6"/>
                </a:solidFill>
              </a:rPr>
              <a:t>Unequal-cost (improved)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4023360"/>
            <a:ext cx="2560320" cy="365760"/>
          </a:xfrm>
          <a:prstGeom prst="rect">
            <a:avLst/>
          </a:prstGeom>
          <a:solidFill>
            <a:srgbClr val="E2EEF8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80360" y="4023360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69280" y="4023360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0782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IPv6 Support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926080" y="407822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</a:rPr>
              <a:t>No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715000" y="40782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B6"/>
                </a:solidFill>
              </a:rPr>
              <a:t>Yes (EIGRPv6)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74320" y="4398264"/>
            <a:ext cx="2560320" cy="365760"/>
          </a:xfrm>
          <a:prstGeom prst="rect">
            <a:avLst/>
          </a:prstGeom>
          <a:solidFill>
            <a:srgbClr val="E2EEF8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880360" y="4398264"/>
            <a:ext cx="2697480" cy="365760"/>
          </a:xfrm>
          <a:prstGeom prst="rect">
            <a:avLst/>
          </a:prstGeom>
          <a:solidFill>
            <a:srgbClr val="EFF6FB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69280" y="4398264"/>
            <a:ext cx="3200400" cy="365760"/>
          </a:xfrm>
          <a:prstGeom prst="rect">
            <a:avLst/>
          </a:prstGeom>
          <a:solidFill>
            <a:srgbClr val="EFF6FB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4453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Transport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926080" y="44531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</a:rPr>
              <a:t>IP Protocol 9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715000" y="4453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7B6"/>
                </a:solidFill>
              </a:rPr>
              <a:t>IP Protocol 88 + RTP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Revision — All Key Points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F"/>
                </a:solidFill>
              </a:rPr>
              <a:t>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448056"/>
          </a:xfrm>
          <a:prstGeom prst="rect">
            <a:avLst/>
          </a:prstGeom>
          <a:solidFill>
            <a:srgbClr val="1122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13385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IGRP — Made by Cisco 1985. Distance Vector. Uses Bellman-Ford. Classful. Max 255 hops. Updates every 90 sec.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77340"/>
            <a:ext cx="8595360" cy="448056"/>
          </a:xfrm>
          <a:prstGeom prst="rect">
            <a:avLst/>
          </a:prstGeom>
          <a:solidFill>
            <a:srgbClr val="1122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41348"/>
            <a:ext cx="320040" cy="3200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413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3220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IGRP Metric = Bandwidth + Delay + Load + Reliability + MTU (5 K-values). Much smarter than RIP's hop count.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75688"/>
            <a:ext cx="8595360" cy="448056"/>
          </a:xfrm>
          <a:prstGeom prst="rect">
            <a:avLst/>
          </a:prstGeom>
          <a:solidFill>
            <a:srgbClr val="1122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39696"/>
            <a:ext cx="320040" cy="320040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39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3055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IGRP Weakness = No VLSM, slow convergence, Cisco-only, no IPv6. That's why EIGRP replaced 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74036"/>
            <a:ext cx="8595360" cy="448056"/>
          </a:xfrm>
          <a:prstGeom prst="rect">
            <a:avLst/>
          </a:prstGeom>
          <a:solidFill>
            <a:srgbClr val="1122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638044"/>
            <a:ext cx="320040" cy="3200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380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62890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EIGRP — Made by Cisco 1992. Hybrid (DV + LS). Uses DUAL algorithm. IP protocol 88. Multicast 224.0.0.10.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72384"/>
            <a:ext cx="8595360" cy="448056"/>
          </a:xfrm>
          <a:prstGeom prst="rect">
            <a:avLst/>
          </a:prstGeom>
          <a:solidFill>
            <a:srgbClr val="1122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136392"/>
            <a:ext cx="320040" cy="32004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136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1272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EIGRP uses RTP (Reliable Transport Protocol) for its own reliable delivery — NOT TCP or UDP.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70732"/>
            <a:ext cx="8595360" cy="448056"/>
          </a:xfrm>
          <a:prstGeom prst="rect">
            <a:avLst/>
          </a:prstGeom>
          <a:solidFill>
            <a:srgbClr val="1122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634740"/>
            <a:ext cx="320040" cy="32004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347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362559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EIGRP 3 Tables: Neighbor Table (who) + Topology Table (all routes) + Routing Table (best routes).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8595360" cy="448056"/>
          </a:xfrm>
          <a:prstGeom prst="rect">
            <a:avLst/>
          </a:prstGeom>
          <a:solidFill>
            <a:srgbClr val="1122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133088"/>
            <a:ext cx="320040" cy="3200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133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412394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DUAL keeps a Successor (best path) and Feasible Successor (backup). If primary fails → backup used INSTANTLY.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46314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" y="462229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1196</Words>
  <Application>Microsoft Office PowerPoint</Application>
  <PresentationFormat>On-screen Show (16:9)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IGRP &amp; EIGRP – Complete Study Guide</dc:title>
  <dc:subject>PptxGenJS Presentation</dc:subject>
  <dc:creator>PptxGenJS</dc:creator>
  <cp:lastModifiedBy>Muhammad Usman Saleem</cp:lastModifiedBy>
  <cp:revision>3</cp:revision>
  <dcterms:created xsi:type="dcterms:W3CDTF">2026-03-30T07:25:17Z</dcterms:created>
  <dcterms:modified xsi:type="dcterms:W3CDTF">2026-03-30T07:56:00Z</dcterms:modified>
</cp:coreProperties>
</file>